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embeddedFontLst>
    <p:embeddedFont>
      <p:font typeface="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57b942053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d57b942053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57b94205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d57b94205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d57b94205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8FA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5CE78"/>
          </a:solidFill>
          <a:ln cap="flat" cmpd="sng" w="12700">
            <a:solidFill>
              <a:srgbClr val="05C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548640" y="6455664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Kickstarter Success Prediction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9784080" y="6455664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8A2B3"/>
                </a:solidFill>
              </a:rPr>
              <a:t>Capstone Project 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8229600" y="0"/>
            <a:ext cx="3962100" cy="6858000"/>
          </a:xfrm>
          <a:prstGeom prst="rect">
            <a:avLst/>
          </a:prstGeom>
          <a:solidFill>
            <a:srgbClr val="05CE78"/>
          </a:solidFill>
          <a:ln cap="flat" cmpd="sng" w="12700">
            <a:solidFill>
              <a:srgbClr val="05C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731520" y="1234440"/>
            <a:ext cx="5943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Kickstarter Project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Success Prediction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768096" y="310896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5DD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D0D5DD"/>
                </a:solidFill>
              </a:rPr>
              <a:t>C</a:t>
            </a:r>
            <a:r>
              <a:rPr b="0" i="0" lang="en-US" sz="1600" u="none" cap="none" strike="noStrike">
                <a:solidFill>
                  <a:srgbClr val="D0D5DD"/>
                </a:solidFill>
                <a:latin typeface="Arial"/>
                <a:ea typeface="Arial"/>
                <a:cs typeface="Arial"/>
                <a:sym typeface="Arial"/>
              </a:rPr>
              <a:t>apstone presentation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768096" y="4193640"/>
            <a:ext cx="5029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</a:rPr>
              <a:t>How can Kickstarter creators determine if the project that they are trying to launch is more likely to succeed or fail?</a:t>
            </a:r>
            <a:endParaRPr sz="2000"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54864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1. Business problem and project goal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548640" y="82296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 question was simple: can we predict campaign success before a Kickstarter project launches?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594360" y="1325880"/>
            <a:ext cx="534924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868680" y="15727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868680" y="1965960"/>
            <a:ext cx="4480560" cy="229971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-205740" lvl="0" marL="20574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Creators lose time and effort when campaigns fail.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Platform teams need a way to spot risk early.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Better pre-launch guidance can improve campaign design.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The goal was to support decisions, not replace human judgment.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6217920" y="1325880"/>
            <a:ext cx="5349240" cy="4480560"/>
          </a:xfrm>
          <a:prstGeom prst="roundRect">
            <a:avLst>
              <a:gd fmla="val 1633" name="adj"/>
            </a:avLst>
          </a:prstGeom>
          <a:solidFill>
            <a:srgbClr val="FDFDFD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6492240" y="157276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What the model uses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6492240" y="1965960"/>
            <a:ext cx="4389120" cy="229971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-205740" lvl="0" marL="20574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Funding goal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Campaign duration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Main category and subcategory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Launch timing such as month and weekday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6492240" y="4265663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49B5A"/>
                </a:solidFill>
              </a:rPr>
              <a:t>Note: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6492240" y="4828032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Leakage-prone fields like pledged amount and backer count were removed so the model would only learn from information available before or at launch.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54864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2. Data and workflow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548640" y="82296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 project followed a full machine-learning workflow from cleaning to final evaluation.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3017520" y="2779776"/>
            <a:ext cx="256032" cy="411480"/>
          </a:xfrm>
          <a:prstGeom prst="chevron">
            <a:avLst>
              <a:gd fmla="val 50000" name="adj"/>
            </a:avLst>
          </a:prstGeom>
          <a:solidFill>
            <a:srgbClr val="05CE78"/>
          </a:solidFill>
          <a:ln cap="flat" cmpd="sng" w="12700">
            <a:solidFill>
              <a:srgbClr val="05C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640080" y="1828800"/>
            <a:ext cx="2331720" cy="242316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/>
          <p:nvPr/>
        </p:nvSpPr>
        <p:spPr>
          <a:xfrm>
            <a:off x="786384" y="1993392"/>
            <a:ext cx="438912" cy="438912"/>
          </a:xfrm>
          <a:prstGeom prst="ellipse">
            <a:avLst/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786384" y="2048256"/>
            <a:ext cx="43891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49B5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1325880" y="199339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Clean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804672" y="2560320"/>
            <a:ext cx="20116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Handled missing values, removed invalid country records, and created campaign duration.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5989320" y="2779776"/>
            <a:ext cx="256032" cy="411480"/>
          </a:xfrm>
          <a:prstGeom prst="chevron">
            <a:avLst>
              <a:gd fmla="val 50000" name="adj"/>
            </a:avLst>
          </a:prstGeom>
          <a:solidFill>
            <a:srgbClr val="05CE78"/>
          </a:solidFill>
          <a:ln cap="flat" cmpd="sng" w="12700">
            <a:solidFill>
              <a:srgbClr val="05C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3611880" y="1828800"/>
            <a:ext cx="2331720" cy="2423160"/>
          </a:xfrm>
          <a:prstGeom prst="roundRect">
            <a:avLst>
              <a:gd fmla="val 3137" name="adj"/>
            </a:avLst>
          </a:prstGeom>
          <a:solidFill>
            <a:srgbClr val="FDFDFD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3758184" y="1993392"/>
            <a:ext cx="438912" cy="438912"/>
          </a:xfrm>
          <a:prstGeom prst="ellipse">
            <a:avLst/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3758184" y="2048256"/>
            <a:ext cx="43891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49B5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4297680" y="199339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Explore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3776472" y="2560320"/>
            <a:ext cx="20116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Looked for patterns in success rates across categories, goals, and timing.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8961120" y="2779776"/>
            <a:ext cx="256032" cy="411480"/>
          </a:xfrm>
          <a:prstGeom prst="chevron">
            <a:avLst>
              <a:gd fmla="val 50000" name="adj"/>
            </a:avLst>
          </a:prstGeom>
          <a:solidFill>
            <a:srgbClr val="05CE78"/>
          </a:solidFill>
          <a:ln cap="flat" cmpd="sng" w="12700">
            <a:solidFill>
              <a:srgbClr val="05C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6583680" y="1828800"/>
            <a:ext cx="2331720" cy="242316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6729984" y="1993392"/>
            <a:ext cx="438912" cy="438912"/>
          </a:xfrm>
          <a:prstGeom prst="ellipse">
            <a:avLst/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6729984" y="2048256"/>
            <a:ext cx="43891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49B5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7269480" y="199339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Prepare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748272" y="2560320"/>
            <a:ext cx="20116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Created a binary target, encoded categories, scaled numeric fields, and split train/test data.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9555480" y="1828800"/>
            <a:ext cx="2331720" cy="2423160"/>
          </a:xfrm>
          <a:prstGeom prst="roundRect">
            <a:avLst>
              <a:gd fmla="val 3137" name="adj"/>
            </a:avLst>
          </a:prstGeom>
          <a:solidFill>
            <a:srgbClr val="FDFDFD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9701784" y="1993392"/>
            <a:ext cx="438912" cy="438912"/>
          </a:xfrm>
          <a:prstGeom prst="ellipse">
            <a:avLst/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9701784" y="2048256"/>
            <a:ext cx="43891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49B5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10241280" y="199339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9720072" y="2560320"/>
            <a:ext cx="20116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Compared several classifiers and selected a tuned random forest as the best model.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822960" y="4800600"/>
            <a:ext cx="2011680" cy="868680"/>
          </a:xfrm>
          <a:prstGeom prst="roundRect">
            <a:avLst>
              <a:gd fmla="val 8421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969264" y="491947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372,066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932688" y="5257800"/>
            <a:ext cx="17922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cleaned projects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3154680" y="4800600"/>
            <a:ext cx="2011680" cy="868680"/>
          </a:xfrm>
          <a:prstGeom prst="roundRect">
            <a:avLst>
              <a:gd fmla="val 8421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3300984" y="491947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211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3264408" y="5257800"/>
            <a:ext cx="17922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model features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5486400" y="4800600"/>
            <a:ext cx="2011680" cy="868680"/>
          </a:xfrm>
          <a:prstGeom prst="roundRect">
            <a:avLst>
              <a:gd fmla="val 8421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5632704" y="491947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297,649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596128" y="5257800"/>
            <a:ext cx="17922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train rows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7818120" y="4800600"/>
            <a:ext cx="2011680" cy="868680"/>
          </a:xfrm>
          <a:prstGeom prst="roundRect">
            <a:avLst>
              <a:gd fmla="val 8421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7964424" y="491947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74,413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7927848" y="5257800"/>
            <a:ext cx="17922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test rows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/>
          <p:nvPr/>
        </p:nvSpPr>
        <p:spPr>
          <a:xfrm>
            <a:off x="54864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3. The data story before modeling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548640" y="82296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Even before training a model, the data showed clear patterns linked to success.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1005840" y="1664208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Outcome balance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1005840" y="233172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Unsuccessful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1005840" y="2651760"/>
            <a:ext cx="2240280" cy="347472"/>
          </a:xfrm>
          <a:prstGeom prst="rect">
            <a:avLst/>
          </a:prstGeom>
          <a:solidFill>
            <a:srgbClr val="0B1F33"/>
          </a:solidFill>
          <a:ln cap="flat" cmpd="sng" w="12700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3246120" y="2651760"/>
            <a:ext cx="1280160" cy="347472"/>
          </a:xfrm>
          <a:prstGeom prst="rect">
            <a:avLst/>
          </a:prstGeom>
          <a:solidFill>
            <a:srgbClr val="05CE78"/>
          </a:solidFill>
          <a:ln cap="flat" cmpd="sng" w="12700">
            <a:solidFill>
              <a:srgbClr val="05C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1783080" y="3127248"/>
            <a:ext cx="6400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64.0%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3611880" y="3127248"/>
            <a:ext cx="5486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49B5A"/>
                </a:solidFill>
                <a:latin typeface="Arial"/>
                <a:ea typeface="Arial"/>
                <a:cs typeface="Arial"/>
                <a:sym typeface="Arial"/>
              </a:rPr>
              <a:t>36.0%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3337560" y="233172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Successful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1005840" y="333756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Most projects did not succeed, so class balance mattered when judging model performance.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5029200" y="166420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Three signals stood out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074920" y="2148840"/>
            <a:ext cx="1325880" cy="475488"/>
          </a:xfrm>
          <a:prstGeom prst="roundRect">
            <a:avLst>
              <a:gd fmla="val 9615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5230368" y="2286000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Goal size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629400" y="2221992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Higher goals were much harder to reach.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074920" y="3154680"/>
            <a:ext cx="1325880" cy="475488"/>
          </a:xfrm>
          <a:prstGeom prst="roundRect">
            <a:avLst>
              <a:gd fmla="val 9615" name="adj"/>
            </a:avLst>
          </a:prstGeom>
          <a:solidFill>
            <a:srgbClr val="E7F0FF"/>
          </a:solidFill>
          <a:ln cap="flat" cmpd="sng" w="12700">
            <a:solidFill>
              <a:srgbClr val="E7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5230368" y="3291840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Campaign length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629400" y="3227832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475467"/>
                </a:solidFill>
              </a:rPr>
              <a:t>Longer </a:t>
            </a:r>
            <a:r>
              <a:rPr b="0" i="0" lang="en-US" sz="17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campaigns tended to do worse.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5074920" y="4160520"/>
            <a:ext cx="1325880" cy="475488"/>
          </a:xfrm>
          <a:prstGeom prst="roundRect">
            <a:avLst>
              <a:gd fmla="val 9615" name="adj"/>
            </a:avLst>
          </a:prstGeom>
          <a:solidFill>
            <a:srgbClr val="F4EBFF"/>
          </a:solidFill>
          <a:ln cap="flat" cmpd="sng" w="12700">
            <a:solidFill>
              <a:srgbClr val="F4E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5230368" y="4297680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Category fit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6629400" y="4233672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Some categories had much stronger baseline success than others.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/>
          <p:nvPr/>
        </p:nvSpPr>
        <p:spPr>
          <a:xfrm>
            <a:off x="54864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4. Finding #1: category matters a lot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548640" y="82296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Success rates were not evenly spread across project types.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figure1_category_success.png" id="113" name="Google Shape;11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81701"/>
            <a:ext cx="6675120" cy="4043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8"/>
          <p:cNvSpPr/>
          <p:nvPr/>
        </p:nvSpPr>
        <p:spPr>
          <a:xfrm>
            <a:off x="7726680" y="1508760"/>
            <a:ext cx="3611880" cy="429768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8046720" y="1783080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What this means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8046720" y="2148840"/>
            <a:ext cx="2743200" cy="165563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Dance, Theater, Comics, and Music had stronger success rates.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Technology, Journalism, Crafts, and Fashion were weaker areas.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A single playbook will not fit every category.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8046658" y="4413790"/>
            <a:ext cx="201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49B5A"/>
                </a:solidFill>
                <a:latin typeface="Arial"/>
                <a:ea typeface="Arial"/>
                <a:cs typeface="Arial"/>
                <a:sym typeface="Arial"/>
              </a:rPr>
              <a:t>Stakeholder takeaway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8046725" y="4663453"/>
            <a:ext cx="26976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Support should be tailored by category risk, not offered in the same way to every creator.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/>
          <p:nvPr/>
        </p:nvSpPr>
        <p:spPr>
          <a:xfrm>
            <a:off x="54864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5. Finding #2: realistic goals improve success odds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548640" y="82296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 clearest pattern in the project was the drop in success as goals moved higher.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731520" y="1417320"/>
            <a:ext cx="3657600" cy="438912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1005840" y="2057400"/>
            <a:ext cx="2834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Projects with lower goals were far more likely to succeed than projects with very high goals.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987552" y="3337560"/>
            <a:ext cx="1143000" cy="868680"/>
          </a:xfrm>
          <a:prstGeom prst="roundRect">
            <a:avLst>
              <a:gd fmla="val 8421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1133856" y="3456432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~49%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1097280" y="3794760"/>
            <a:ext cx="9235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lowest goal band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2286000" y="3337560"/>
            <a:ext cx="1143000" cy="868680"/>
          </a:xfrm>
          <a:prstGeom prst="roundRect">
            <a:avLst>
              <a:gd fmla="val 8421" name="adj"/>
            </a:avLst>
          </a:prstGeom>
          <a:solidFill>
            <a:srgbClr val="FEE4E2"/>
          </a:solidFill>
          <a:ln cap="flat" cmpd="sng" w="12700">
            <a:solidFill>
              <a:srgbClr val="FEE4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2432304" y="3456432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2D2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D92D20"/>
                </a:solidFill>
                <a:latin typeface="Arial"/>
                <a:ea typeface="Arial"/>
                <a:cs typeface="Arial"/>
                <a:sym typeface="Arial"/>
              </a:rPr>
              <a:t>~18%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2395728" y="3794760"/>
            <a:ext cx="9235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highest goal band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1005840" y="4572000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This gap is large enough to support practical goal-setting guidance before launch.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lide_assets/goal_success.png" id="135" name="Google Shape;1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7020" y="1431498"/>
            <a:ext cx="7223761" cy="4360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/>
        </p:nvSpPr>
        <p:spPr>
          <a:xfrm>
            <a:off x="502920" y="384048"/>
            <a:ext cx="768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2537"/>
                </a:solidFill>
                <a:latin typeface="Play"/>
                <a:ea typeface="Play"/>
                <a:cs typeface="Play"/>
                <a:sym typeface="Play"/>
              </a:rPr>
              <a:t>Campaign duration and success</a:t>
            </a:r>
            <a:endParaRPr/>
          </a:p>
        </p:txBody>
      </p:sp>
      <p:sp>
        <p:nvSpPr>
          <p:cNvPr id="141" name="Google Shape;141;p10"/>
          <p:cNvSpPr txBox="1"/>
          <p:nvPr/>
        </p:nvSpPr>
        <p:spPr>
          <a:xfrm>
            <a:off x="502920" y="868680"/>
            <a:ext cx="8229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06C7A"/>
                </a:solidFill>
                <a:latin typeface="Arial"/>
                <a:ea typeface="Arial"/>
                <a:cs typeface="Arial"/>
                <a:sym typeface="Arial"/>
              </a:rPr>
              <a:t>Projects running 30–39 days outperformed longer 40–59 day campaigns.</a:t>
            </a:r>
            <a:endParaRPr/>
          </a:p>
        </p:txBody>
      </p:sp>
      <p:pic>
        <p:nvPicPr>
          <p:cNvPr descr="duration_success_chart.png" id="142" name="Google Shape;1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435608"/>
            <a:ext cx="7223761" cy="43616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" name="Google Shape;143;p10"/>
          <p:cNvGrpSpPr/>
          <p:nvPr/>
        </p:nvGrpSpPr>
        <p:grpSpPr>
          <a:xfrm>
            <a:off x="8078870" y="2530457"/>
            <a:ext cx="3633306" cy="1797068"/>
            <a:chOff x="8046720" y="1417320"/>
            <a:chExt cx="3633306" cy="1797068"/>
          </a:xfrm>
        </p:grpSpPr>
        <p:sp>
          <p:nvSpPr>
            <p:cNvPr id="144" name="Google Shape;144;p10"/>
            <p:cNvSpPr txBox="1"/>
            <p:nvPr/>
          </p:nvSpPr>
          <p:spPr>
            <a:xfrm>
              <a:off x="8046720" y="1417320"/>
              <a:ext cx="2377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2537"/>
                  </a:solidFill>
                  <a:latin typeface="Arial"/>
                  <a:ea typeface="Arial"/>
                  <a:cs typeface="Arial"/>
                  <a:sym typeface="Arial"/>
                </a:rPr>
                <a:t>What this shows</a:t>
              </a:r>
              <a:endParaRPr/>
            </a:p>
          </p:txBody>
        </p:sp>
        <p:sp>
          <p:nvSpPr>
            <p:cNvPr id="145" name="Google Shape;145;p10"/>
            <p:cNvSpPr txBox="1"/>
            <p:nvPr/>
          </p:nvSpPr>
          <p:spPr>
            <a:xfrm>
              <a:off x="8046726" y="1967588"/>
              <a:ext cx="3633300" cy="124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364150"/>
                  </a:solidFill>
                  <a:latin typeface="Arial"/>
                  <a:ea typeface="Arial"/>
                  <a:cs typeface="Arial"/>
                  <a:sym typeface="Arial"/>
                </a:rPr>
                <a:t>Under 30 days: 36.8% success</a:t>
              </a:r>
              <a:endParaRPr sz="1100"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364150"/>
                  </a:solidFill>
                  <a:latin typeface="Arial"/>
                  <a:ea typeface="Arial"/>
                  <a:cs typeface="Arial"/>
                  <a:sym typeface="Arial"/>
                </a:rPr>
                <a:t>30–39 days: 44.5% success (highest)</a:t>
              </a:r>
              <a:endParaRPr sz="1100"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364150"/>
                  </a:solidFill>
                  <a:latin typeface="Arial"/>
                  <a:ea typeface="Arial"/>
                  <a:cs typeface="Arial"/>
                  <a:sym typeface="Arial"/>
                </a:rPr>
                <a:t>40–59 days: 26.6% success</a:t>
              </a:r>
              <a:endParaRPr sz="1100"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364150"/>
                  </a:solidFill>
                  <a:latin typeface="Arial"/>
                  <a:ea typeface="Arial"/>
                  <a:cs typeface="Arial"/>
                  <a:sym typeface="Arial"/>
                </a:rPr>
                <a:t>60+ days: 34.2% success</a:t>
              </a:r>
              <a:endParaRPr sz="110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/>
          <p:nvPr/>
        </p:nvSpPr>
        <p:spPr>
          <a:xfrm>
            <a:off x="502920" y="384048"/>
            <a:ext cx="8138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02A43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1" i="0" lang="en-US" sz="2600" u="none" cap="none" strike="noStrike">
                <a:solidFill>
                  <a:srgbClr val="102A43"/>
                </a:solidFill>
                <a:latin typeface="Play"/>
                <a:ea typeface="Play"/>
                <a:cs typeface="Play"/>
                <a:sym typeface="Play"/>
              </a:rPr>
              <a:t>. Model comparison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502920" y="868680"/>
            <a:ext cx="8686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08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B7083"/>
                </a:solidFill>
                <a:latin typeface="Arial"/>
                <a:ea typeface="Arial"/>
                <a:cs typeface="Arial"/>
                <a:sym typeface="Arial"/>
              </a:rPr>
              <a:t>All four tested models were compared before choosing the final model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lide_assets/model_comparison.png" id="153" name="Google Shape;1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805940"/>
            <a:ext cx="7040880" cy="352044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1"/>
          <p:cNvSpPr/>
          <p:nvPr/>
        </p:nvSpPr>
        <p:spPr>
          <a:xfrm>
            <a:off x="8001000" y="1508760"/>
            <a:ext cx="2926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CE7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CE78"/>
                </a:solidFill>
                <a:latin typeface="Arial"/>
                <a:ea typeface="Arial"/>
                <a:cs typeface="Arial"/>
                <a:sym typeface="Arial"/>
              </a:rPr>
              <a:t>Tested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8001000" y="1874520"/>
            <a:ext cx="31548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Logistic regression: </a:t>
            </a:r>
            <a:r>
              <a:rPr b="0" i="0" lang="en-US" sz="125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68.9% accuracy, 0.47 F1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Decision tree (Gini): </a:t>
            </a:r>
            <a:r>
              <a:rPr b="0" i="0" lang="en-US" sz="125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68.7% accuracy, 0.47 F1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Decision tree (Entropy): </a:t>
            </a:r>
            <a:r>
              <a:rPr b="0" i="0" lang="en-US" sz="125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68.6% accuracy, 0.46 F1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Random forest (tuned): </a:t>
            </a:r>
            <a:r>
              <a:rPr b="0" i="0" lang="en-US" sz="125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69.6% accuracy, 0.52 F1</a:t>
            </a:r>
            <a:endParaRPr/>
          </a:p>
        </p:txBody>
      </p:sp>
      <p:sp>
        <p:nvSpPr>
          <p:cNvPr id="156" name="Google Shape;156;p11"/>
          <p:cNvSpPr/>
          <p:nvPr/>
        </p:nvSpPr>
        <p:spPr>
          <a:xfrm>
            <a:off x="8001000" y="4892040"/>
            <a:ext cx="2926200" cy="914400"/>
          </a:xfrm>
          <a:prstGeom prst="roundRect">
            <a:avLst>
              <a:gd fmla="val 6000" name="adj"/>
            </a:avLst>
          </a:prstGeom>
          <a:solidFill>
            <a:srgbClr val="FFF8E6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"/>
          <p:cNvSpPr/>
          <p:nvPr/>
        </p:nvSpPr>
        <p:spPr>
          <a:xfrm>
            <a:off x="8156448" y="4956048"/>
            <a:ext cx="251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Why it won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8119872" y="5230368"/>
            <a:ext cx="269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08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7083"/>
                </a:solidFill>
                <a:latin typeface="Arial"/>
                <a:ea typeface="Arial"/>
                <a:cs typeface="Arial"/>
                <a:sym typeface="Arial"/>
              </a:rPr>
              <a:t>Best F1 score and the strongest balance between catching likely successes and limiting false positives.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1"/>
          <p:cNvSpPr txBox="1"/>
          <p:nvPr>
            <p:ph idx="12" type="sldNum"/>
          </p:nvPr>
        </p:nvSpPr>
        <p:spPr>
          <a:xfrm>
            <a:off x="11612880" y="6620256"/>
            <a:ext cx="365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/>
          <p:nvPr/>
        </p:nvSpPr>
        <p:spPr>
          <a:xfrm>
            <a:off x="54864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7</a:t>
            </a:r>
            <a:r>
              <a:rPr b="1" i="0" lang="en-US" sz="2400" u="none" cap="none" strike="noStrike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. Final model performance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548640" y="82296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 tuned random forest was the strongest model tested on unseen test data.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822960" y="1417320"/>
            <a:ext cx="1737360" cy="914400"/>
          </a:xfrm>
          <a:prstGeom prst="roundRect">
            <a:avLst>
              <a:gd fmla="val 8000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"/>
          <p:cNvSpPr/>
          <p:nvPr/>
        </p:nvSpPr>
        <p:spPr>
          <a:xfrm>
            <a:off x="969264" y="153619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69.6%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932688" y="1874520"/>
            <a:ext cx="1517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2880360" y="1417320"/>
            <a:ext cx="1737360" cy="914400"/>
          </a:xfrm>
          <a:prstGeom prst="roundRect">
            <a:avLst>
              <a:gd fmla="val 8000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"/>
          <p:cNvSpPr/>
          <p:nvPr/>
        </p:nvSpPr>
        <p:spPr>
          <a:xfrm>
            <a:off x="3026664" y="153619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60.1%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2990088" y="1874520"/>
            <a:ext cx="1517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4937760" y="1417320"/>
            <a:ext cx="1737360" cy="914400"/>
          </a:xfrm>
          <a:prstGeom prst="roundRect">
            <a:avLst>
              <a:gd fmla="val 8000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"/>
          <p:cNvSpPr/>
          <p:nvPr/>
        </p:nvSpPr>
        <p:spPr>
          <a:xfrm>
            <a:off x="5084064" y="153619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45.7%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5047488" y="1874520"/>
            <a:ext cx="1517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6995160" y="1417320"/>
            <a:ext cx="1737360" cy="914400"/>
          </a:xfrm>
          <a:prstGeom prst="roundRect">
            <a:avLst>
              <a:gd fmla="val 8000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"/>
          <p:cNvSpPr/>
          <p:nvPr/>
        </p:nvSpPr>
        <p:spPr>
          <a:xfrm>
            <a:off x="7141464" y="153619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0.52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7104888" y="1874520"/>
            <a:ext cx="1517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F1 score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777240" y="2743200"/>
            <a:ext cx="5120640" cy="2697480"/>
          </a:xfrm>
          <a:prstGeom prst="roundRect">
            <a:avLst>
              <a:gd fmla="val 2712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2"/>
          <p:cNvSpPr/>
          <p:nvPr/>
        </p:nvSpPr>
        <p:spPr>
          <a:xfrm>
            <a:off x="1051560" y="2999232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How to read the result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1051560" y="3383280"/>
            <a:ext cx="4297680" cy="165563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Accuracy was solid for a real-world classification problem.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Recall was lower, which means the model missed some future successes.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The model was better at identifying likely failures than guaranteed wins.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6217920" y="2743200"/>
            <a:ext cx="5212080" cy="2697480"/>
          </a:xfrm>
          <a:prstGeom prst="roundRect">
            <a:avLst>
              <a:gd fmla="val 2712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"/>
          <p:cNvSpPr/>
          <p:nvPr/>
        </p:nvSpPr>
        <p:spPr>
          <a:xfrm>
            <a:off x="6492240" y="2999232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Predicted vs. actual success rate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6510528" y="3703320"/>
            <a:ext cx="5943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Actual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7269480" y="3675888"/>
            <a:ext cx="2103120" cy="301752"/>
          </a:xfrm>
          <a:prstGeom prst="rect">
            <a:avLst/>
          </a:prstGeom>
          <a:solidFill>
            <a:srgbClr val="05CE78"/>
          </a:solidFill>
          <a:ln cap="flat" cmpd="sng" w="12700">
            <a:solidFill>
              <a:srgbClr val="05C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"/>
          <p:cNvSpPr/>
          <p:nvPr/>
        </p:nvSpPr>
        <p:spPr>
          <a:xfrm>
            <a:off x="7982712" y="3744468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36.0%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6510524" y="4315974"/>
            <a:ext cx="8595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Predicted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7269480" y="4288536"/>
            <a:ext cx="1609344" cy="301752"/>
          </a:xfrm>
          <a:prstGeom prst="rect">
            <a:avLst/>
          </a:prstGeom>
          <a:solidFill>
            <a:srgbClr val="0B1F33"/>
          </a:solidFill>
          <a:ln cap="flat" cmpd="sng" w="12700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"/>
          <p:cNvSpPr/>
          <p:nvPr/>
        </p:nvSpPr>
        <p:spPr>
          <a:xfrm>
            <a:off x="7744968" y="4357116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27.4%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6492240" y="4754880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 lower predicted rate shows the model was cautious about calling a project successful.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/>
          <p:nvPr/>
        </p:nvSpPr>
        <p:spPr>
          <a:xfrm>
            <a:off x="54864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8</a:t>
            </a:r>
            <a:r>
              <a:rPr b="1" i="0" lang="en-US" sz="2400" u="none" cap="none" strike="noStrike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. Test-set predictions vs. actual outcomes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548640" y="82296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 confusion matrix shows where the model was right and where it struggled.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figure3_confusion_matrix.png" id="198" name="Google Shape;1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738792"/>
            <a:ext cx="5669280" cy="402049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3"/>
          <p:cNvSpPr/>
          <p:nvPr/>
        </p:nvSpPr>
        <p:spPr>
          <a:xfrm>
            <a:off x="6583680" y="1508760"/>
            <a:ext cx="4663440" cy="438912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3"/>
          <p:cNvSpPr/>
          <p:nvPr/>
        </p:nvSpPr>
        <p:spPr>
          <a:xfrm>
            <a:off x="6903720" y="1783080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Key reading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6903720" y="2103120"/>
            <a:ext cx="3840480" cy="217703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39,522 failures were correctly identified.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12,244 successes were correctly identified.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14,526 successes were missed and labeled as failures.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8,121 failures were incorrectly labeled as successes.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6903720" y="4535810"/>
            <a:ext cx="1097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49B5A"/>
                </a:solidFill>
                <a:latin typeface="Arial"/>
                <a:ea typeface="Arial"/>
                <a:cs typeface="Arial"/>
                <a:sym typeface="Arial"/>
              </a:rPr>
              <a:t>Takeaway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6903720" y="4956048"/>
            <a:ext cx="3703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 model is better as a pre-launch risk screen than as a tool for declaring certain success.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"/>
          <p:cNvSpPr/>
          <p:nvPr/>
        </p:nvSpPr>
        <p:spPr>
          <a:xfrm>
            <a:off x="54864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9</a:t>
            </a:r>
            <a:r>
              <a:rPr b="1" i="0" lang="en-US" sz="2400" u="none" cap="none" strike="noStrike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. What drove the predictions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548640" y="82296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 model mostly learned from practical campaign choices that stakeholders can influence.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713232" y="1417320"/>
            <a:ext cx="3657600" cy="443484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1005840" y="171907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Top drivers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1005840" y="2029968"/>
            <a:ext cx="2834640" cy="217703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Funding goal was the strongest predictor.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Campaign duration mattered a lot.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Launch month and weekday also mattered.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Category indicators added extra context.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1005890" y="4207003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49B5A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1005840" y="4681728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These are useful because they can shape guidance before launch.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figure4_feature_importance.png" id="216" name="Google Shape;21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7720" y="1576184"/>
            <a:ext cx="6858000" cy="4299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/>
          <p:nvPr/>
        </p:nvSpPr>
        <p:spPr>
          <a:xfrm>
            <a:off x="54864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r>
              <a:rPr b="1" i="0" lang="en-US" sz="2400" u="none" cap="none" strike="noStrike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. Recommendations for the client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548640" y="82296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These actions follow directly from the patterns seen in the data and the model.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914400" y="1508760"/>
            <a:ext cx="1024128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5"/>
          <p:cNvSpPr/>
          <p:nvPr/>
        </p:nvSpPr>
        <p:spPr>
          <a:xfrm>
            <a:off x="1115575" y="1581929"/>
            <a:ext cx="1737300" cy="530400"/>
          </a:xfrm>
          <a:prstGeom prst="roundRect">
            <a:avLst>
              <a:gd fmla="val 8333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5"/>
          <p:cNvSpPr/>
          <p:nvPr/>
        </p:nvSpPr>
        <p:spPr>
          <a:xfrm>
            <a:off x="1207008" y="1792224"/>
            <a:ext cx="15544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49B5A"/>
                </a:solidFill>
                <a:latin typeface="Arial"/>
                <a:ea typeface="Arial"/>
                <a:cs typeface="Arial"/>
                <a:sym typeface="Arial"/>
              </a:rPr>
              <a:t>1. Add goal-setting guidance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3063240" y="1691640"/>
            <a:ext cx="7680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Show creators typical goal ranges for similar projects and warn when a target looks unusually high.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914400" y="3044952"/>
            <a:ext cx="10241280" cy="1143000"/>
          </a:xfrm>
          <a:prstGeom prst="roundRect">
            <a:avLst>
              <a:gd fmla="val 6400" name="adj"/>
            </a:avLst>
          </a:prstGeom>
          <a:solidFill>
            <a:srgbClr val="FDFDFD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1115568" y="3209544"/>
            <a:ext cx="1737360" cy="438912"/>
          </a:xfrm>
          <a:prstGeom prst="roundRect">
            <a:avLst>
              <a:gd fmla="val 8333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"/>
          <p:cNvSpPr/>
          <p:nvPr/>
        </p:nvSpPr>
        <p:spPr>
          <a:xfrm>
            <a:off x="1207008" y="3328416"/>
            <a:ext cx="15544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49B5A"/>
                </a:solidFill>
                <a:latin typeface="Arial"/>
                <a:ea typeface="Arial"/>
                <a:cs typeface="Arial"/>
                <a:sym typeface="Arial"/>
              </a:rPr>
              <a:t>2. Use a pre-launch risk screen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3063240" y="3227832"/>
            <a:ext cx="7680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Score campaigns before launch and flag high-risk cases for extra coaching on scope, pricing, and timing.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914400" y="4581144"/>
            <a:ext cx="1024128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"/>
          <p:cNvSpPr/>
          <p:nvPr/>
        </p:nvSpPr>
        <p:spPr>
          <a:xfrm>
            <a:off x="1115568" y="4745736"/>
            <a:ext cx="1737360" cy="438912"/>
          </a:xfrm>
          <a:prstGeom prst="roundRect">
            <a:avLst>
              <a:gd fmla="val 8333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"/>
          <p:cNvSpPr/>
          <p:nvPr/>
        </p:nvSpPr>
        <p:spPr>
          <a:xfrm>
            <a:off x="1207008" y="4864608"/>
            <a:ext cx="15544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49B5A"/>
                </a:solidFill>
                <a:latin typeface="Arial"/>
                <a:ea typeface="Arial"/>
                <a:cs typeface="Arial"/>
                <a:sym typeface="Arial"/>
              </a:rPr>
              <a:t>3. Tailor support by category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3063240" y="4764024"/>
            <a:ext cx="7680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Create category-specific playbooks, especially for weaker areas such as Technology and Journalism.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/>
          <p:nvPr/>
        </p:nvSpPr>
        <p:spPr>
          <a:xfrm>
            <a:off x="54864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r>
              <a:rPr b="1" lang="en-US" sz="2400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r>
              <a:rPr b="1" i="0" lang="en-US" sz="2400" u="none" cap="none" strike="noStrike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. Limits and next steps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548640" y="82296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 model is useful, but it is not a crystal ball.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685800" y="1463040"/>
            <a:ext cx="5303520" cy="4297680"/>
          </a:xfrm>
          <a:prstGeom prst="roundRect">
            <a:avLst>
              <a:gd fmla="val 1702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6"/>
          <p:cNvSpPr/>
          <p:nvPr/>
        </p:nvSpPr>
        <p:spPr>
          <a:xfrm>
            <a:off x="960120" y="175564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Current limits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960120" y="2084832"/>
            <a:ext cx="4389120" cy="165563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Performance is moderate, not perfect.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The model misses some successful campaigns.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Story quality, audience fit, and creator reputation are not fully captured.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6"/>
          <p:cNvSpPr/>
          <p:nvPr/>
        </p:nvSpPr>
        <p:spPr>
          <a:xfrm>
            <a:off x="6217920" y="1463040"/>
            <a:ext cx="5303520" cy="4297680"/>
          </a:xfrm>
          <a:prstGeom prst="roundRect">
            <a:avLst>
              <a:gd fmla="val 1702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6"/>
          <p:cNvSpPr/>
          <p:nvPr/>
        </p:nvSpPr>
        <p:spPr>
          <a:xfrm>
            <a:off x="6492240" y="17556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Further research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6492240" y="2084832"/>
            <a:ext cx="4480560" cy="217703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Try stronger models such as gradient boosting or XGBoost.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Add text, media, creator history, and social traction features.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Study fairness and business impact across categories and countries.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cap="flat" cmpd="sng" w="12700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7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5CE78"/>
          </a:solidFill>
          <a:ln cap="flat" cmpd="sng" w="12700">
            <a:solidFill>
              <a:srgbClr val="05C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7"/>
          <p:cNvSpPr/>
          <p:nvPr/>
        </p:nvSpPr>
        <p:spPr>
          <a:xfrm>
            <a:off x="822960" y="91440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5DD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D0D5DD"/>
                </a:solidFill>
                <a:latin typeface="Arial"/>
                <a:ea typeface="Arial"/>
                <a:cs typeface="Arial"/>
                <a:sym typeface="Arial"/>
              </a:rPr>
              <a:t>Final takeaway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822960" y="155448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Kickstarter outcomes are not random.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822960" y="2240280"/>
            <a:ext cx="67665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Campaigns with realistic goals, sensible duration, and better category fit are more likely to succeed — and those same patterns are visible in the final model.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822960" y="402336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BE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8FBEA"/>
                </a:solidFill>
                <a:latin typeface="Arial"/>
                <a:ea typeface="Arial"/>
                <a:cs typeface="Arial"/>
                <a:sym typeface="Arial"/>
              </a:rPr>
              <a:t>Use the model as a smart pre-launch support tool.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9738360" y="6382512"/>
            <a:ext cx="1463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